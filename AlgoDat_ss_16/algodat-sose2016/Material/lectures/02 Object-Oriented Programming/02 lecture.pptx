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  <p:sldId id="263" r:id="rId9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custDataLst>
    <p:tags r:id="rId15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90"/>
    <a:srgbClr val="4290BC"/>
    <a:srgbClr val="990000"/>
    <a:srgbClr val="175F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132" autoAdjust="0"/>
  </p:normalViewPr>
  <p:slideViewPr>
    <p:cSldViewPr snapToGrid="0">
      <p:cViewPr varScale="1">
        <p:scale>
          <a:sx n="87" d="100"/>
          <a:sy n="87" d="100"/>
        </p:scale>
        <p:origin x="-1212" y="-78"/>
      </p:cViewPr>
      <p:guideLst>
        <p:guide orient="horz" pos="2160"/>
        <p:guide orient="horz" pos="4207"/>
        <p:guide orient="horz" pos="36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10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6A19A7E-EEA9-4116-946B-0042122AFC12}" type="datetimeFigureOut">
              <a:rPr lang="en-US"/>
              <a:pPr>
                <a:defRPr/>
              </a:pPr>
              <a:t>4/27/2016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A23699B-7972-42AB-9DD1-42952970C8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020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https://honestcharm.files.wordpress.com/2015/12/magic_mist.jpg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23699B-7972-42AB-9DD1-42952970C81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68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http://media1.fanreport.com/de/media/xxVNd_JF3LLgKU9uTmlmyzwncccbeSIOa7fc2mXlCC0/208829/sv-uhlenhorst-adler-logo/sv-uhlenhorst-adler.png?img=3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23699B-7972-42AB-9DD1-42952970C81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01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http://uhlenhorst-adler.de/kontakt/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23699B-7972-42AB-9DD1-42952970C81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692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http://cdn1-www.shocktillyoudrop.com/assets/uploads/2016/03/Termin.jpg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23699B-7972-42AB-9DD1-42952970C81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1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From</a:t>
            </a:r>
            <a:r>
              <a:rPr lang="en-US" baseline="0" dirty="0" smtClean="0"/>
              <a:t> the internet…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23699B-7972-42AB-9DD1-42952970C81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16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" descr="RBO_logo_rgb_l_300dpi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0875" y="238125"/>
            <a:ext cx="4418013" cy="187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450850" y="5138738"/>
            <a:ext cx="8240713" cy="0"/>
          </a:xfrm>
          <a:prstGeom prst="line">
            <a:avLst/>
          </a:prstGeom>
          <a:noFill/>
          <a:ln w="9525">
            <a:solidFill>
              <a:srgbClr val="4290B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6" name="Picture 18" descr="tu-logo_schriftzug_sw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3638" y="6010275"/>
            <a:ext cx="2493962" cy="53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210" name="Titelplatzhalter 1"/>
          <p:cNvSpPr>
            <a:spLocks noGrp="1"/>
          </p:cNvSpPr>
          <p:nvPr>
            <p:ph type="ctrTitle"/>
          </p:nvPr>
        </p:nvSpPr>
        <p:spPr>
          <a:xfrm>
            <a:off x="450850" y="3914775"/>
            <a:ext cx="8247063" cy="1143000"/>
          </a:xfrm>
        </p:spPr>
        <p:txBody>
          <a:bodyPr anchor="b"/>
          <a:lstStyle>
            <a:lvl1pPr algn="l">
              <a:defRPr sz="3200" smtClean="0"/>
            </a:lvl1pPr>
          </a:lstStyle>
          <a:p>
            <a:r>
              <a:rPr lang="en-US" dirty="0" smtClean="0"/>
              <a:t>Click to edit Master title style</a:t>
            </a:r>
          </a:p>
        </p:txBody>
      </p:sp>
      <p:sp>
        <p:nvSpPr>
          <p:cNvPr id="94211" name="Textplatzhalter 2"/>
          <p:cNvSpPr>
            <a:spLocks noGrp="1"/>
          </p:cNvSpPr>
          <p:nvPr>
            <p:ph type="subTitle" idx="1"/>
          </p:nvPr>
        </p:nvSpPr>
        <p:spPr>
          <a:xfrm>
            <a:off x="450850" y="5226050"/>
            <a:ext cx="6240463" cy="1304925"/>
          </a:xfrm>
        </p:spPr>
        <p:txBody>
          <a:bodyPr/>
          <a:lstStyle>
            <a:lvl1pPr marL="0" indent="0">
              <a:spcBef>
                <a:spcPct val="10000"/>
              </a:spcBef>
              <a:buNone/>
              <a:defRPr sz="2000" smtClean="0"/>
            </a:lvl1pPr>
          </a:lstStyle>
          <a:p>
            <a:r>
              <a:rPr lang="en-US" dirty="0" smtClean="0"/>
              <a:t>Click to edit Master subtitle style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A8F306D-5DC5-4341-A225-345DB770BFF5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60F0155-858A-4870-94CC-4F65E8FD262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ED296-C870-45F5-A4C4-FE867AA8E843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C2198-EDB6-4DE8-91E4-4AAF7EA406D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58D2A1-30F9-4F31-A0CB-1B9A35DF7195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1D95C8-52BE-41E3-9971-CDA7EFE7844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7" name="Line 7"/>
          <p:cNvSpPr>
            <a:spLocks noChangeShapeType="1"/>
          </p:cNvSpPr>
          <p:nvPr userDrawn="1"/>
        </p:nvSpPr>
        <p:spPr bwMode="auto">
          <a:xfrm>
            <a:off x="450850" y="911225"/>
            <a:ext cx="8240713" cy="0"/>
          </a:xfrm>
          <a:prstGeom prst="line">
            <a:avLst/>
          </a:prstGeom>
          <a:noFill/>
          <a:ln w="9525">
            <a:solidFill>
              <a:srgbClr val="00589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4381F-2BBE-4326-AB92-F331EE97AC27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9D9D4-A983-46C7-BFC4-9D7069A00AC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6C26D-952B-49FB-ACF4-F3EAC7EC6CAF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DAEAB-AB1C-4F7C-9A1F-904EF79F2D1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0850" y="911225"/>
            <a:ext cx="8240713" cy="0"/>
          </a:xfrm>
          <a:prstGeom prst="line">
            <a:avLst/>
          </a:prstGeom>
          <a:noFill/>
          <a:ln w="9525">
            <a:solidFill>
              <a:srgbClr val="00589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1A4EF-E8B2-46F7-AB29-58C637F0D970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C57DF-8E65-4F87-B370-31BBD828F59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1" name="Line 7"/>
          <p:cNvSpPr>
            <a:spLocks noChangeShapeType="1"/>
          </p:cNvSpPr>
          <p:nvPr userDrawn="1"/>
        </p:nvSpPr>
        <p:spPr bwMode="auto">
          <a:xfrm>
            <a:off x="450850" y="911225"/>
            <a:ext cx="8240713" cy="0"/>
          </a:xfrm>
          <a:prstGeom prst="line">
            <a:avLst/>
          </a:prstGeom>
          <a:noFill/>
          <a:ln w="9525">
            <a:solidFill>
              <a:srgbClr val="00589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A395-5833-498F-92B0-B69E74A9637C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FE107-22AC-4786-A69C-B8854FC2BF4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7"/>
          <p:cNvSpPr>
            <a:spLocks noChangeShapeType="1"/>
          </p:cNvSpPr>
          <p:nvPr userDrawn="1"/>
        </p:nvSpPr>
        <p:spPr bwMode="auto">
          <a:xfrm>
            <a:off x="450850" y="911225"/>
            <a:ext cx="8240713" cy="0"/>
          </a:xfrm>
          <a:prstGeom prst="line">
            <a:avLst/>
          </a:prstGeom>
          <a:noFill/>
          <a:ln w="9525">
            <a:solidFill>
              <a:srgbClr val="00589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FE05F-9E8B-405E-B8CC-3E4C7DDDDF3B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4F84D-953E-4078-A342-39872C885E4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9D951-4E09-4827-B3B9-AF28ED3DB110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66F7B6-642A-43C5-9194-37DB2A5E630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A96F6-1016-4D16-A9ED-8E6C0FF741CE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DB766-72FE-4A35-B157-2A0EE7B2F85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70C3E-33AD-4B87-8E9D-054EDDDD0678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E0B55-AC75-4CD4-B8F5-059842DC5CF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7" name="Line 7"/>
          <p:cNvSpPr>
            <a:spLocks noChangeShapeType="1"/>
          </p:cNvSpPr>
          <p:nvPr userDrawn="1"/>
        </p:nvSpPr>
        <p:spPr bwMode="auto">
          <a:xfrm>
            <a:off x="450850" y="928003"/>
            <a:ext cx="8240713" cy="0"/>
          </a:xfrm>
          <a:prstGeom prst="line">
            <a:avLst/>
          </a:prstGeom>
          <a:noFill/>
          <a:ln w="9525">
            <a:solidFill>
              <a:srgbClr val="00589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 durch Klicken hinzufügen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6B179-DBC7-4A0D-955F-0C5FDDF70249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A5979-C73A-4FE5-9005-C3A792C2ED8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RBO_logo_rgb_s_300dpi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93675" y="6162675"/>
            <a:ext cx="13700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auto">
          <a:xfrm>
            <a:off x="450850" y="430213"/>
            <a:ext cx="82296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Click to edit Master title style</a:t>
            </a:r>
          </a:p>
        </p:txBody>
      </p:sp>
      <p:sp>
        <p:nvSpPr>
          <p:cNvPr id="10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0850" y="1047750"/>
            <a:ext cx="8229600" cy="532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</a:t>
            </a:r>
            <a:r>
              <a:rPr lang="de-DE" dirty="0" err="1" smtClean="0"/>
              <a:t>text</a:t>
            </a:r>
            <a:r>
              <a:rPr lang="de-DE" dirty="0" smtClean="0"/>
              <a:t> </a:t>
            </a:r>
            <a:r>
              <a:rPr lang="de-DE" dirty="0" err="1" smtClean="0"/>
              <a:t>styles</a:t>
            </a:r>
            <a:endParaRPr lang="de-DE" dirty="0" smtClean="0"/>
          </a:p>
          <a:p>
            <a:pPr lvl="1"/>
            <a:r>
              <a:rPr lang="de-DE" dirty="0" smtClean="0"/>
              <a:t>Second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2"/>
            <a:r>
              <a:rPr lang="de-DE" dirty="0" smtClean="0"/>
              <a:t>Third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3"/>
            <a:r>
              <a:rPr lang="de-DE" dirty="0" err="1" smtClean="0"/>
              <a:t>Fourth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4"/>
            <a:r>
              <a:rPr lang="de-DE" dirty="0" err="1" smtClean="0"/>
              <a:t>Fifth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232C5A-0869-4CB8-BCCB-B970AC4E5B08}" type="datetimeFigureOut">
              <a:rPr lang="de-DE"/>
              <a:pPr>
                <a:defRPr/>
              </a:pPr>
              <a:t>27.04.2016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CCDE473-F9F5-4C52-BD65-8C644DD9976B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A9B07EA-1E23-4FE1-9D2C-2D000F016DA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pic>
        <p:nvPicPr>
          <p:cNvPr id="1033" name="Picture 11" descr="tu-logo_schriftzug_sw"/>
          <p:cNvPicPr>
            <a:picLocks noChangeAspect="1" noChangeArrowheads="1"/>
          </p:cNvPicPr>
          <p:nvPr userDrawn="1"/>
        </p:nvPicPr>
        <p:blipFill>
          <a:blip r:embed="rId15" cstate="print"/>
          <a:srcRect l="68941" b="1608"/>
          <a:stretch>
            <a:fillRect/>
          </a:stretch>
        </p:blipFill>
        <p:spPr bwMode="auto">
          <a:xfrm>
            <a:off x="8396288" y="6375400"/>
            <a:ext cx="547687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</a:defRPr>
      </a:lvl9pPr>
    </p:titleStyle>
    <p:bodyStyle>
      <a:lvl1pPr marL="574675" indent="-341313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85000"/>
        <a:buFont typeface="Arial" charset="0"/>
        <a:buChar char="►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38188" indent="-222250" algn="l" rtl="0" eaLnBrk="0" fontAlgn="base" hangingPunct="0">
        <a:spcBef>
          <a:spcPct val="20000"/>
        </a:spcBef>
        <a:spcAft>
          <a:spcPct val="0"/>
        </a:spcAft>
        <a:buClr>
          <a:srgbClr val="005890"/>
        </a:buClr>
        <a:buChar char="•"/>
        <a:defRPr sz="22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974725" indent="-176213" algn="l" rtl="0" eaLnBrk="0" fontAlgn="base" hangingPunct="0">
        <a:spcBef>
          <a:spcPct val="20000"/>
        </a:spcBef>
        <a:spcAft>
          <a:spcPct val="0"/>
        </a:spcAft>
        <a:buClr>
          <a:srgbClr val="4290BC"/>
        </a:buClr>
        <a:buFont typeface="Arial" charset="0"/>
        <a:buChar char="•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252538" indent="-163513" algn="l" rtl="0" eaLnBrk="0" fontAlgn="base" hangingPunct="0">
        <a:spcBef>
          <a:spcPct val="20000"/>
        </a:spcBef>
        <a:spcAft>
          <a:spcPct val="0"/>
        </a:spcAft>
        <a:buClr>
          <a:srgbClr val="4290BC"/>
        </a:buClr>
        <a:buChar char="•"/>
        <a:defRPr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1546225" indent="-174625" algn="l" rtl="0" eaLnBrk="0" fontAlgn="base" hangingPunct="0">
        <a:spcBef>
          <a:spcPct val="20000"/>
        </a:spcBef>
        <a:spcAft>
          <a:spcPct val="0"/>
        </a:spcAft>
        <a:buClr>
          <a:srgbClr val="4290BC"/>
        </a:buClr>
        <a:buChar char="•"/>
        <a:defRPr sz="16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9.jpeg"/><Relationship Id="rId18" Type="http://schemas.openxmlformats.org/officeDocument/2006/relationships/image" Target="../media/image24.jpeg"/><Relationship Id="rId3" Type="http://schemas.openxmlformats.org/officeDocument/2006/relationships/image" Target="../media/image9.jpeg"/><Relationship Id="rId21" Type="http://schemas.openxmlformats.org/officeDocument/2006/relationships/image" Target="../media/image27.jpeg"/><Relationship Id="rId7" Type="http://schemas.openxmlformats.org/officeDocument/2006/relationships/image" Target="../media/image13.jpeg"/><Relationship Id="rId12" Type="http://schemas.openxmlformats.org/officeDocument/2006/relationships/image" Target="../media/image18.jpeg"/><Relationship Id="rId17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.jpeg"/><Relationship Id="rId20" Type="http://schemas.openxmlformats.org/officeDocument/2006/relationships/image" Target="../media/image26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11" Type="http://schemas.openxmlformats.org/officeDocument/2006/relationships/image" Target="../media/image17.jpeg"/><Relationship Id="rId24" Type="http://schemas.openxmlformats.org/officeDocument/2006/relationships/image" Target="../media/image30.jpeg"/><Relationship Id="rId5" Type="http://schemas.openxmlformats.org/officeDocument/2006/relationships/image" Target="../media/image11.jpeg"/><Relationship Id="rId15" Type="http://schemas.openxmlformats.org/officeDocument/2006/relationships/image" Target="../media/image21.jpeg"/><Relationship Id="rId23" Type="http://schemas.openxmlformats.org/officeDocument/2006/relationships/image" Target="../media/image29.jpeg"/><Relationship Id="rId10" Type="http://schemas.openxmlformats.org/officeDocument/2006/relationships/image" Target="../media/image16.jpeg"/><Relationship Id="rId19" Type="http://schemas.openxmlformats.org/officeDocument/2006/relationships/image" Target="../media/image25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Relationship Id="rId14" Type="http://schemas.openxmlformats.org/officeDocument/2006/relationships/image" Target="../media/image20.png"/><Relationship Id="rId22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From the Real World to Java</a:t>
            </a:r>
            <a:endParaRPr lang="en-US" dirty="0"/>
          </a:p>
        </p:txBody>
      </p:sp>
      <p:sp>
        <p:nvSpPr>
          <p:cNvPr id="1433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Oliver Brock</a:t>
            </a:r>
            <a:endParaRPr lang="en-US" dirty="0"/>
          </a:p>
          <a:p>
            <a:pPr eaLnBrk="1" hangingPunct="1"/>
            <a:r>
              <a:rPr lang="en-US" dirty="0"/>
              <a:t>Robotics and Biology Laboratory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Ankündigung</a:t>
            </a:r>
            <a:endParaRPr lang="de-DE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Donnerstag</a:t>
            </a:r>
            <a:r>
              <a:rPr lang="en-US" dirty="0" smtClean="0"/>
              <a:t> </a:t>
            </a:r>
            <a:r>
              <a:rPr lang="en-US" dirty="0" err="1" smtClean="0"/>
              <a:t>ist</a:t>
            </a:r>
            <a:r>
              <a:rPr lang="en-US" dirty="0" smtClean="0"/>
              <a:t> </a:t>
            </a:r>
            <a:r>
              <a:rPr lang="en-US" dirty="0" err="1" smtClean="0"/>
              <a:t>Feiertag</a:t>
            </a:r>
            <a:r>
              <a:rPr lang="en-US" dirty="0" smtClean="0"/>
              <a:t>!</a:t>
            </a:r>
            <a:endParaRPr lang="en-US" dirty="0"/>
          </a:p>
          <a:p>
            <a:pPr lvl="1"/>
            <a:r>
              <a:rPr lang="en-US" dirty="0" err="1" smtClean="0"/>
              <a:t>B</a:t>
            </a:r>
            <a:r>
              <a:rPr lang="en-US" dirty="0" err="1" smtClean="0"/>
              <a:t>itte</a:t>
            </a:r>
            <a:r>
              <a:rPr lang="en-US" dirty="0" smtClean="0"/>
              <a:t> </a:t>
            </a:r>
            <a:r>
              <a:rPr lang="en-US" dirty="0" err="1" smtClean="0"/>
              <a:t>geht</a:t>
            </a:r>
            <a:r>
              <a:rPr lang="en-US" dirty="0" smtClean="0"/>
              <a:t> </a:t>
            </a:r>
            <a:r>
              <a:rPr lang="en-US" dirty="0" err="1" smtClean="0"/>
              <a:t>zu</a:t>
            </a:r>
            <a:r>
              <a:rPr lang="en-US" dirty="0" smtClean="0"/>
              <a:t> </a:t>
            </a:r>
            <a:r>
              <a:rPr lang="en-US" dirty="0" err="1" smtClean="0"/>
              <a:t>anderen</a:t>
            </a:r>
            <a:r>
              <a:rPr lang="en-US" dirty="0" smtClean="0"/>
              <a:t> </a:t>
            </a:r>
            <a:r>
              <a:rPr lang="en-US" dirty="0" err="1" smtClean="0"/>
              <a:t>Tutorien</a:t>
            </a:r>
            <a:r>
              <a:rPr lang="en-US" dirty="0" smtClean="0"/>
              <a:t>, um den </a:t>
            </a:r>
            <a:r>
              <a:rPr lang="en-US" dirty="0" err="1" smtClean="0"/>
              <a:t>Stoff</a:t>
            </a:r>
            <a:r>
              <a:rPr lang="en-US" dirty="0" smtClean="0"/>
              <a:t> </a:t>
            </a:r>
            <a:r>
              <a:rPr lang="en-US" dirty="0" err="1" smtClean="0"/>
              <a:t>nicht</a:t>
            </a:r>
            <a:r>
              <a:rPr lang="en-US" dirty="0" smtClean="0"/>
              <a:t> </a:t>
            </a:r>
            <a:r>
              <a:rPr lang="en-US" dirty="0" err="1" smtClean="0"/>
              <a:t>zu</a:t>
            </a:r>
            <a:r>
              <a:rPr lang="en-US" dirty="0" smtClean="0"/>
              <a:t> </a:t>
            </a:r>
            <a:r>
              <a:rPr lang="en-US" dirty="0" err="1" smtClean="0"/>
              <a:t>verpassen</a:t>
            </a:r>
            <a:r>
              <a:rPr lang="en-US" dirty="0" smtClean="0"/>
              <a:t>!</a:t>
            </a:r>
          </a:p>
          <a:p>
            <a:r>
              <a:rPr lang="en-US" dirty="0" err="1" smtClean="0"/>
              <a:t>Habt</a:t>
            </a:r>
            <a:r>
              <a:rPr lang="en-US" dirty="0" smtClean="0"/>
              <a:t> </a:t>
            </a:r>
            <a:r>
              <a:rPr lang="en-US" dirty="0" err="1" smtClean="0"/>
              <a:t>Ihr</a:t>
            </a:r>
            <a:r>
              <a:rPr lang="en-US" dirty="0" smtClean="0"/>
              <a:t> Eclipse </a:t>
            </a:r>
            <a:r>
              <a:rPr lang="en-US" dirty="0" err="1" smtClean="0"/>
              <a:t>installiert</a:t>
            </a:r>
            <a:r>
              <a:rPr lang="en-US" dirty="0" smtClean="0"/>
              <a:t>?</a:t>
            </a:r>
          </a:p>
          <a:p>
            <a:r>
              <a:rPr lang="en-US" dirty="0" err="1" smtClean="0"/>
              <a:t>Habt</a:t>
            </a:r>
            <a:r>
              <a:rPr lang="en-US" dirty="0" smtClean="0"/>
              <a:t> </a:t>
            </a:r>
            <a:r>
              <a:rPr lang="en-US" dirty="0" err="1" smtClean="0"/>
              <a:t>Ihr</a:t>
            </a:r>
            <a:r>
              <a:rPr lang="en-US" dirty="0" smtClean="0"/>
              <a:t> </a:t>
            </a:r>
            <a:r>
              <a:rPr lang="en-US" dirty="0" err="1" smtClean="0"/>
              <a:t>mit</a:t>
            </a:r>
            <a:r>
              <a:rPr lang="en-US" dirty="0" smtClean="0"/>
              <a:t> Java </a:t>
            </a:r>
            <a:r>
              <a:rPr lang="en-US" dirty="0" err="1" smtClean="0"/>
              <a:t>herumgespielt</a:t>
            </a:r>
            <a:r>
              <a:rPr lang="en-US" dirty="0" smtClean="0"/>
              <a:t>?</a:t>
            </a:r>
          </a:p>
          <a:p>
            <a:r>
              <a:rPr lang="en-US" dirty="0" err="1" smtClean="0"/>
              <a:t>Mit</a:t>
            </a:r>
            <a:r>
              <a:rPr lang="en-US" dirty="0" smtClean="0"/>
              <a:t> </a:t>
            </a:r>
            <a:r>
              <a:rPr lang="en-US" dirty="0" err="1" smtClean="0"/>
              <a:t>dem</a:t>
            </a:r>
            <a:r>
              <a:rPr lang="en-US" dirty="0" smtClean="0"/>
              <a:t> Debugger?</a:t>
            </a:r>
          </a:p>
          <a:p>
            <a:r>
              <a:rPr lang="en-US" dirty="0" err="1" smtClean="0"/>
              <a:t>Mit</a:t>
            </a:r>
            <a:r>
              <a:rPr lang="en-US" dirty="0" smtClean="0"/>
              <a:t> Unit Tests?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909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honestcharm.files.wordpress.com/2015/12/magic_mis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1999" y="0"/>
            <a:ext cx="10972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0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media1.fanreport.com/de/media/xxVNd_JF3LLgKU9uTmlmyzwncccbeSIOa7fc2mXlCC0/208829/sv-uhlenhorst-adler-logo/sv-uhlenhorst-adler.png?img=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888" y="859516"/>
            <a:ext cx="4971596" cy="513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uhlenhorst-adler.de/wp-content/uploads/2015/08/20150827_1722371-e144075107254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995" y="702592"/>
            <a:ext cx="3641075" cy="4854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52328" y="5658991"/>
            <a:ext cx="26084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/>
              <a:t>Klaus </a:t>
            </a:r>
            <a:r>
              <a:rPr lang="de-DE" b="1" dirty="0" smtClean="0"/>
              <a:t>Hornig</a:t>
            </a:r>
          </a:p>
          <a:p>
            <a:pPr algn="ctr"/>
            <a:r>
              <a:rPr lang="de-DE" b="1" dirty="0" smtClean="0"/>
              <a:t>Platzwart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Mittwochs bis Sonntags</a:t>
            </a:r>
          </a:p>
        </p:txBody>
      </p:sp>
    </p:spTree>
    <p:extLst>
      <p:ext uri="{BB962C8B-B14F-4D97-AF65-F5344CB8AC3E}">
        <p14:creationId xmlns:p14="http://schemas.microsoft.com/office/powerpoint/2010/main" val="196830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cdn1-www.shocktillyoudrop.com/assets/uploads/2016/03/Termi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4400" y="-2"/>
            <a:ext cx="109728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17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bsbproduction.s3.amazonaws.com/portals/9843/images/volleyball-art-work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44" y="94709"/>
            <a:ext cx="1507046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www.sportsballshop.co.uk/acatalog/WilsonMicroAmericanFootball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197" y="167170"/>
            <a:ext cx="1812213" cy="1654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www.improbable.com/wp-content/uploads/2016/01/Ping-Pong-Ball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005" y="612707"/>
            <a:ext cx="606725" cy="60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://image-load-balancer.worldsportshops.com/Images/watermarked_thumbnail.aspx?photoNum=1&amp;t=I&amp;catalog=Soccer&amp;img=7362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201" y="188943"/>
            <a:ext cx="1625083" cy="162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http://pimg.tradeindia.com/01573755/b/1/Shot-Put-Rubber-Ball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81" y="2005684"/>
            <a:ext cx="1071563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http://ecx.images-amazon.com/images/I/618kmnof%2B1L._SL1000_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844" y="2005684"/>
            <a:ext cx="1071563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www.enasco.com/prod/images/products/64/AC060940l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352" y="1925677"/>
            <a:ext cx="1212058" cy="1212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woolcloth.com/products/full/tennis-ball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848" y="1871409"/>
            <a:ext cx="1094231" cy="1094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static.giantbomb.com/uploads/scale_small/0/6413/349303-bowling_ball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200" y="1742103"/>
            <a:ext cx="1625083" cy="173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sportinggoodsreviews.net/wp-content/uploads/2014/08/golfball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168" y="772884"/>
            <a:ext cx="739357" cy="68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thumbnail.image.rakuten.co.jp/@0_mall/tucchi/cabinet/00720355/img55631158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19" y="4404743"/>
            <a:ext cx="1699560" cy="171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upload.wikimedia.org/wikipedia/commons/7/7a/Basketball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006" y="3133764"/>
            <a:ext cx="1940596" cy="194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://www.baby-guenstig.de/cosmoshop/pix/a/n/1389690417-521.jp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032" y="1730359"/>
            <a:ext cx="1307259" cy="123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://www.4sport.de/image/cache/catalog/Produktfotos/B%C3%A4lle/wp_5_ks-1000x1143.jp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494" y="5142902"/>
            <a:ext cx="1334651" cy="152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ttp://www.nunon.de/images/produkt_wehncke_wasserball_14611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806" y="3289500"/>
            <a:ext cx="2005022" cy="150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://lisaro.de/images/product_images/original_images/medizinball_4-_kg.jp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65" y="4988046"/>
            <a:ext cx="1575703" cy="147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https://static.betzold.de/images/prod/3463/Wurfball-aus-Leder-200-g-3463_bdeops-XL.jp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01" y="3344540"/>
            <a:ext cx="978699" cy="80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https://upload.wikimedia.org/wikipedia/en/1/1e/Baseball_(crop).jp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824" y="3502393"/>
            <a:ext cx="1241669" cy="120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http://www.sportsballshop.co.uk/acatalog/ReadersSovereignSpecial1.jpg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921" y="3744637"/>
            <a:ext cx="1065934" cy="97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http://image.shutterstock.com/z/stock-photo-boule-ball-22648294.jpg"/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57"/>
          <a:stretch/>
        </p:blipFill>
        <p:spPr bwMode="auto">
          <a:xfrm>
            <a:off x="5675955" y="4964454"/>
            <a:ext cx="1211607" cy="115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http://cliparts.co/cliparts/rcn/KKX/rcnKKXEMi.jpg"/>
          <p:cNvPicPr>
            <a:picLocks noChangeAspect="1"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9" r="17125"/>
          <a:stretch/>
        </p:blipFill>
        <p:spPr bwMode="auto">
          <a:xfrm>
            <a:off x="7261921" y="4812901"/>
            <a:ext cx="1311695" cy="150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http://www.moving.at/web_images/federball_r__.jpg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166" y="525641"/>
            <a:ext cx="809151" cy="99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24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Eigenschaften</a:t>
            </a:r>
            <a:r>
              <a:rPr lang="en-US" dirty="0" smtClean="0"/>
              <a:t> von </a:t>
            </a:r>
            <a:r>
              <a:rPr lang="en-US" dirty="0" err="1" smtClean="0"/>
              <a:t>objektorientierten</a:t>
            </a:r>
            <a:r>
              <a:rPr lang="en-US" dirty="0" smtClean="0"/>
              <a:t> </a:t>
            </a:r>
            <a:r>
              <a:rPr lang="en-US" dirty="0" err="1" smtClean="0"/>
              <a:t>Sprachen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Abstraktion</a:t>
            </a:r>
            <a:r>
              <a:rPr lang="en-US" dirty="0" smtClean="0"/>
              <a:t>: Classes und Objects</a:t>
            </a:r>
          </a:p>
          <a:p>
            <a:r>
              <a:rPr lang="en-US" dirty="0" smtClean="0"/>
              <a:t>Dynamic Dispatch</a:t>
            </a:r>
          </a:p>
          <a:p>
            <a:r>
              <a:rPr lang="en-US" dirty="0" smtClean="0"/>
              <a:t>Encapsulation</a:t>
            </a:r>
          </a:p>
          <a:p>
            <a:r>
              <a:rPr lang="en-US" dirty="0" smtClean="0"/>
              <a:t>Composition (</a:t>
            </a:r>
            <a:r>
              <a:rPr lang="en-US" dirty="0" err="1" smtClean="0"/>
              <a:t>vergleiche</a:t>
            </a:r>
            <a:r>
              <a:rPr lang="en-US" dirty="0" smtClean="0"/>
              <a:t>: Aggregation), Inheritance, Delegation</a:t>
            </a:r>
          </a:p>
          <a:p>
            <a:r>
              <a:rPr lang="en-US" dirty="0" smtClean="0"/>
              <a:t>Polymorphism (</a:t>
            </a:r>
            <a:r>
              <a:rPr lang="en-US" dirty="0" err="1" smtClean="0"/>
              <a:t>mit</a:t>
            </a:r>
            <a:r>
              <a:rPr lang="en-US" dirty="0" smtClean="0"/>
              <a:t> Dynamic Dispatch </a:t>
            </a:r>
            <a:r>
              <a:rPr lang="en-US" dirty="0" err="1" smtClean="0"/>
              <a:t>nahe</a:t>
            </a:r>
            <a:r>
              <a:rPr lang="en-US" dirty="0" smtClean="0"/>
              <a:t> </a:t>
            </a:r>
            <a:r>
              <a:rPr lang="en-US" dirty="0" err="1" smtClean="0"/>
              <a:t>verwandt</a:t>
            </a:r>
            <a:r>
              <a:rPr lang="en-US" dirty="0" smtClean="0"/>
              <a:t>)</a:t>
            </a:r>
          </a:p>
          <a:p>
            <a:r>
              <a:rPr lang="en-US" dirty="0" smtClean="0"/>
              <a:t>Open recursion (in Java </a:t>
            </a:r>
            <a:r>
              <a:rPr lang="en-US" dirty="0" err="1" smtClean="0"/>
              <a:t>mit</a:t>
            </a:r>
            <a:r>
              <a:rPr lang="en-US" dirty="0" smtClean="0"/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de-DE" dirty="0" smtClean="0"/>
              <a:t>)</a:t>
            </a:r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Beachte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hier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gibt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Variationen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de-DE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96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OLIVER20BROCK@ELDGOBDFUVWYY57I" val="3547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On-screen Show (4:3)</PresentationFormat>
  <Paragraphs>31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Larissa-Design</vt:lpstr>
      <vt:lpstr>From the Real World to Java</vt:lpstr>
      <vt:lpstr>Ankündigung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Eigenschaften von objektorientierten Sprachen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Factorization Approach  to Manipulation  in Unstructured Environments</dc:title>
  <cp:lastModifiedBy>Oliver Brock</cp:lastModifiedBy>
  <cp:revision>177</cp:revision>
  <dcterms:modified xsi:type="dcterms:W3CDTF">2016-04-27T17:59:44Z</dcterms:modified>
</cp:coreProperties>
</file>